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  <p:sldMasterId id="2147483713" r:id="rId3"/>
  </p:sldMasterIdLst>
  <p:notesMasterIdLst>
    <p:notesMasterId r:id="rId14"/>
  </p:notesMasterIdLst>
  <p:sldIdLst>
    <p:sldId id="303" r:id="rId4"/>
    <p:sldId id="5743" r:id="rId5"/>
    <p:sldId id="256" r:id="rId6"/>
    <p:sldId id="5744" r:id="rId7"/>
    <p:sldId id="5747" r:id="rId8"/>
    <p:sldId id="5746" r:id="rId9"/>
    <p:sldId id="5749" r:id="rId10"/>
    <p:sldId id="5750" r:id="rId11"/>
    <p:sldId id="5740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5AA5"/>
    <a:srgbClr val="335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809BA-FFE0-9DBB-AED9-56CDC3F036AE}" v="45" dt="2026-04-15T19:09:22.0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Josephine" userId="S::mary.josephine@tessolve.com::07c943c3-2194-434d-9677-dd75b45a2a32" providerId="AD" clId="Web-{2A7809BA-FFE0-9DBB-AED9-56CDC3F036AE}"/>
    <pc:docChg chg="modSld">
      <pc:chgData name="Mary Josephine" userId="S::mary.josephine@tessolve.com::07c943c3-2194-434d-9677-dd75b45a2a32" providerId="AD" clId="Web-{2A7809BA-FFE0-9DBB-AED9-56CDC3F036AE}" dt="2026-04-15T19:09:22.099" v="40"/>
      <pc:docMkLst>
        <pc:docMk/>
      </pc:docMkLst>
      <pc:sldChg chg="modSp">
        <pc:chgData name="Mary Josephine" userId="S::mary.josephine@tessolve.com::07c943c3-2194-434d-9677-dd75b45a2a32" providerId="AD" clId="Web-{2A7809BA-FFE0-9DBB-AED9-56CDC3F036AE}" dt="2026-04-15T19:09:22.099" v="40"/>
        <pc:sldMkLst>
          <pc:docMk/>
          <pc:sldMk cId="3602965997" sldId="5740"/>
        </pc:sldMkLst>
        <pc:spChg chg="mod">
          <ac:chgData name="Mary Josephine" userId="S::mary.josephine@tessolve.com::07c943c3-2194-434d-9677-dd75b45a2a32" providerId="AD" clId="Web-{2A7809BA-FFE0-9DBB-AED9-56CDC3F036AE}" dt="2026-04-15T19:09:22.099" v="40"/>
          <ac:spMkLst>
            <pc:docMk/>
            <pc:sldMk cId="3602965997" sldId="5740"/>
            <ac:spMk id="11" creationId="{70209F71-9C31-952D-A13D-5524A40C8658}"/>
          </ac:spMkLst>
        </pc:spChg>
      </pc:sldChg>
      <pc:sldChg chg="modSp">
        <pc:chgData name="Mary Josephine" userId="S::mary.josephine@tessolve.com::07c943c3-2194-434d-9677-dd75b45a2a32" providerId="AD" clId="Web-{2A7809BA-FFE0-9DBB-AED9-56CDC3F036AE}" dt="2026-04-15T19:04:57.940" v="26"/>
        <pc:sldMkLst>
          <pc:docMk/>
          <pc:sldMk cId="1719026019" sldId="5746"/>
        </pc:sldMkLst>
        <pc:graphicFrameChg chg="mod modGraphic">
          <ac:chgData name="Mary Josephine" userId="S::mary.josephine@tessolve.com::07c943c3-2194-434d-9677-dd75b45a2a32" providerId="AD" clId="Web-{2A7809BA-FFE0-9DBB-AED9-56CDC3F036AE}" dt="2026-04-15T19:04:57.940" v="26"/>
          <ac:graphicFrameMkLst>
            <pc:docMk/>
            <pc:sldMk cId="1719026019" sldId="5746"/>
            <ac:graphicFrameMk id="10" creationId="{00000000-0000-0000-0000-000000000000}"/>
          </ac:graphicFrameMkLst>
        </pc:graphicFrameChg>
      </pc:sldChg>
      <pc:sldChg chg="modSp mod modShow">
        <pc:chgData name="Mary Josephine" userId="S::mary.josephine@tessolve.com::07c943c3-2194-434d-9677-dd75b45a2a32" providerId="AD" clId="Web-{2A7809BA-FFE0-9DBB-AED9-56CDC3F036AE}" dt="2026-04-15T19:08:52.409" v="38" actId="20577"/>
        <pc:sldMkLst>
          <pc:docMk/>
          <pc:sldMk cId="3279638988" sldId="5749"/>
        </pc:sldMkLst>
        <pc:spChg chg="mod">
          <ac:chgData name="Mary Josephine" userId="S::mary.josephine@tessolve.com::07c943c3-2194-434d-9677-dd75b45a2a32" providerId="AD" clId="Web-{2A7809BA-FFE0-9DBB-AED9-56CDC3F036AE}" dt="2026-04-15T19:08:52.409" v="38" actId="20577"/>
          <ac:spMkLst>
            <pc:docMk/>
            <pc:sldMk cId="3279638988" sldId="5749"/>
            <ac:spMk id="7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2A7809BA-FFE0-9DBB-AED9-56CDC3F036AE}" dt="2026-04-15T19:07:53.216" v="28"/>
          <ac:graphicFrameMkLst>
            <pc:docMk/>
            <pc:sldMk cId="3279638988" sldId="5749"/>
            <ac:graphicFrameMk id="9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2A7809BA-FFE0-9DBB-AED9-56CDC3F036AE}" dt="2026-04-15T19:09:09.380" v="39"/>
        <pc:sldMkLst>
          <pc:docMk/>
          <pc:sldMk cId="128786683" sldId="5750"/>
        </pc:sldMkLst>
        <pc:spChg chg="mod">
          <ac:chgData name="Mary Josephine" userId="S::mary.josephine@tessolve.com::07c943c3-2194-434d-9677-dd75b45a2a32" providerId="AD" clId="Web-{2A7809BA-FFE0-9DBB-AED9-56CDC3F036AE}" dt="2026-04-15T19:09:09.380" v="39"/>
          <ac:spMkLst>
            <pc:docMk/>
            <pc:sldMk cId="128786683" sldId="5750"/>
            <ac:spMk id="2" creationId="{FBC8F86B-B7FE-41F3-718D-7C5038A0BC03}"/>
          </ac:spMkLst>
        </pc:spChg>
        <pc:graphicFrameChg chg="mod modGraphic">
          <ac:chgData name="Mary Josephine" userId="S::mary.josephine@tessolve.com::07c943c3-2194-434d-9677-dd75b45a2a32" providerId="AD" clId="Web-{2A7809BA-FFE0-9DBB-AED9-56CDC3F036AE}" dt="2026-04-15T19:08:42.330" v="34" actId="1076"/>
          <ac:graphicFrameMkLst>
            <pc:docMk/>
            <pc:sldMk cId="128786683" sldId="5750"/>
            <ac:graphicFrameMk id="3" creationId="{0D8590D2-DCE4-5F97-184E-D31D9B93C80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2E86E-85A8-4A15-989C-B2A1E813423D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E38E-0389-4F47-81D1-E8A63CB88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7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7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6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4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9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3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7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33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11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59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8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59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55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57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C8678D-BBAE-CE2A-C163-79EDB02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C9ADE-A02E-44F5-8B96-526A206169CD}"/>
              </a:ext>
            </a:extLst>
          </p:cNvPr>
          <p:cNvSpPr/>
          <p:nvPr userDrawn="1"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A34921-02C8-CC23-331B-E1924605A842}"/>
              </a:ext>
            </a:extLst>
          </p:cNvPr>
          <p:cNvSpPr/>
          <p:nvPr userDrawn="1"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1044423-BE5C-1A7A-96CC-96CBCE8D8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449" y="3648823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www.tessolve.com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6222E599-8782-579B-51C0-35B778C7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129" y="4192894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FC3A1-8D2D-079B-308C-4FA3D8A1B4CC}"/>
              </a:ext>
            </a:extLst>
          </p:cNvPr>
          <p:cNvGrpSpPr/>
          <p:nvPr userDrawn="1"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24" name="Google Shape;4992;p63">
              <a:extLst>
                <a:ext uri="{FF2B5EF4-FFF2-40B4-BE49-F238E27FC236}">
                  <a16:creationId xmlns:a16="http://schemas.microsoft.com/office/drawing/2014/main" id="{DAE97957-468F-7460-B4DD-A864AC1E4845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4978;p63">
              <a:extLst>
                <a:ext uri="{FF2B5EF4-FFF2-40B4-BE49-F238E27FC236}">
                  <a16:creationId xmlns:a16="http://schemas.microsoft.com/office/drawing/2014/main" id="{028DEB9A-5EE1-E0EC-9DC1-9A29B8F8E74E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4979;p63">
              <a:extLst>
                <a:ext uri="{FF2B5EF4-FFF2-40B4-BE49-F238E27FC236}">
                  <a16:creationId xmlns:a16="http://schemas.microsoft.com/office/drawing/2014/main" id="{9C340A9C-4B77-4D2F-C7BE-4C23B6B699D5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E33E1B-0000-7591-CBAE-46412ABA0D88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F77A92C-8A3F-DF7F-829E-478FACAFB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129" y="4802676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6AE76-45E3-8DA2-A451-426EB4B99E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116" name="Title 4">
            <a:extLst>
              <a:ext uri="{FF2B5EF4-FFF2-40B4-BE49-F238E27FC236}">
                <a16:creationId xmlns:a16="http://schemas.microsoft.com/office/drawing/2014/main" id="{747D96F8-4357-4CA5-76A8-D5FF2FA03B90}"/>
              </a:ext>
            </a:extLst>
          </p:cNvPr>
          <p:cNvSpPr txBox="1">
            <a:spLocks/>
          </p:cNvSpPr>
          <p:nvPr userDrawn="1"/>
        </p:nvSpPr>
        <p:spPr>
          <a:xfrm>
            <a:off x="235154" y="608363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334AA73B-AA4F-A4BC-412D-50A971F5E6D6}"/>
              </a:ext>
            </a:extLst>
          </p:cNvPr>
          <p:cNvSpPr txBox="1">
            <a:spLocks/>
          </p:cNvSpPr>
          <p:nvPr userDrawn="1"/>
        </p:nvSpPr>
        <p:spPr>
          <a:xfrm>
            <a:off x="1096399" y="608363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18" name="Title 4">
            <a:extLst>
              <a:ext uri="{FF2B5EF4-FFF2-40B4-BE49-F238E27FC236}">
                <a16:creationId xmlns:a16="http://schemas.microsoft.com/office/drawing/2014/main" id="{B2DEAE46-034B-924D-9889-E9872C2A8F5E}"/>
              </a:ext>
            </a:extLst>
          </p:cNvPr>
          <p:cNvSpPr txBox="1">
            <a:spLocks/>
          </p:cNvSpPr>
          <p:nvPr userDrawn="1"/>
        </p:nvSpPr>
        <p:spPr>
          <a:xfrm>
            <a:off x="2145757" y="608363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19" name="Title 4">
            <a:extLst>
              <a:ext uri="{FF2B5EF4-FFF2-40B4-BE49-F238E27FC236}">
                <a16:creationId xmlns:a16="http://schemas.microsoft.com/office/drawing/2014/main" id="{B5F254A1-CD7B-6B41-5496-52E56E0D9EF2}"/>
              </a:ext>
            </a:extLst>
          </p:cNvPr>
          <p:cNvSpPr txBox="1">
            <a:spLocks/>
          </p:cNvSpPr>
          <p:nvPr userDrawn="1"/>
        </p:nvSpPr>
        <p:spPr>
          <a:xfrm>
            <a:off x="3109521" y="6083632"/>
            <a:ext cx="954365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135BFA-75DF-F09A-9FFF-1309486AF428}"/>
              </a:ext>
            </a:extLst>
          </p:cNvPr>
          <p:cNvGrpSpPr/>
          <p:nvPr userDrawn="1"/>
        </p:nvGrpSpPr>
        <p:grpSpPr>
          <a:xfrm>
            <a:off x="471634" y="5505376"/>
            <a:ext cx="422248" cy="418149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2F46407-8017-6F6F-4D53-F1271AC36DE9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7DC69E2-0253-C8B5-C184-77E2098FAE58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E4D37C1-378D-36F2-91B6-193F4CB4440B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6D06171-805A-DCB4-391B-FC426ECACB9E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FD132-9133-C85F-8556-FE5EAA46F1A7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A0F3E4-86DF-A5C5-7E8F-9F9B2AFEB13E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45C51D-1C0E-AE90-9531-3E12594D27C5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0A9517E-2637-115E-9B6B-C197A896D511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51A723A-2DDB-8411-4EC2-EBB17709F419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3CCC72F-0C64-69AF-EF4A-42C27A080A30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8D66784-5D31-358B-42ED-28241066283A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BE3988-5D1A-1EAF-348E-35EE4FF608A7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92C0CB3-59BA-7D6E-072D-26E17F0D7B53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893230C-ED04-0023-0B6F-DF32D8ED69B0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4B5D021-55F2-898F-04FA-6F9D6D9C5268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DD0EAD7-FC4C-8624-3CED-87007B68BE36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677821F-AC30-DBAD-2ABB-976E6F226FAD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8CE2963-52FC-FB3D-8367-C9F524E894E0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F8BC9BC-A894-E81F-56EB-F2FC3AEB1DE5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789FEFF-7C25-09FD-6DA8-6714854C3E1E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E061FA1-C92C-C1F0-5CBD-63F707712177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F04E74-3F5C-C551-BA12-09D5AE91EC8E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9034D4C-8E07-23A0-EF20-F4419F25FFE5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BFBD614-8E61-9FD5-5535-412F2181091F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B511A1-C71A-CA31-D60F-7552A7940A9E}"/>
              </a:ext>
            </a:extLst>
          </p:cNvPr>
          <p:cNvGrpSpPr/>
          <p:nvPr userDrawn="1"/>
        </p:nvGrpSpPr>
        <p:grpSpPr>
          <a:xfrm>
            <a:off x="1471184" y="5561820"/>
            <a:ext cx="370901" cy="370901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7FEBC61-FB6F-8A9F-638C-3B91E25D4E23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CD93352-5505-BD84-E37F-90ACCB458E3B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48C5D75-C48F-45D8-EE27-64760433C67F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3398586-4FB5-92BC-64C7-3FA6A881CDE5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ECC2A25-DC11-94AA-2EA7-6E5B8329899E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03146EF-74F0-DA3F-8399-BBE67DFF8489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53B8FB-DC4D-5AF9-D689-4F721D6331E2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55D69DD-DF91-4365-076D-A8A4E39F67A0}"/>
              </a:ext>
            </a:extLst>
          </p:cNvPr>
          <p:cNvGrpSpPr/>
          <p:nvPr userDrawn="1"/>
        </p:nvGrpSpPr>
        <p:grpSpPr>
          <a:xfrm>
            <a:off x="2409966" y="5540644"/>
            <a:ext cx="388965" cy="388962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6B823C2-E03C-B399-DA70-9B2DD23F94F7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27E4513-67F0-0D8A-4522-DE37BD097F5A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8DA81E2-6A2A-C9F3-56B2-5908B1DBF5B9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A00078-AB65-D805-4AAB-244BBBFA77A6}"/>
              </a:ext>
            </a:extLst>
          </p:cNvPr>
          <p:cNvGrpSpPr/>
          <p:nvPr userDrawn="1"/>
        </p:nvGrpSpPr>
        <p:grpSpPr>
          <a:xfrm>
            <a:off x="3360112" y="5478314"/>
            <a:ext cx="453182" cy="453179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3429B14-E0A1-C6C6-12F4-642D65434256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A0AFBC6-0850-A16A-1F5C-73F56E80871A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52E2E07-6305-1C4B-8357-554A8B86661A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981550-1C0A-539C-D4F3-8640D588D569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962AFE9-C850-E952-E7C2-25F8EC807A75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03BB56D-471F-9172-3971-5A1AEB17EA6E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4749B4-8886-766A-5EE9-2C7432582344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6A6373E-7998-67FF-0059-C8F46BD15AD1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CE2C849-F613-0DC3-7EDF-4D24679AB6DF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A280279-7D13-8FF0-D5BC-01A0948AD93F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1D734BB-0BAA-0E9A-BA80-02B9250E03C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F89BB9-0B30-8383-74E8-594C7D5F42C9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9C45DC-DFC1-6112-213F-E1E49BB7BE82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B595EC6-D724-CA96-0924-2F2BF70124EE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470083D-3E29-9443-694C-4EFEB53874C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5409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037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&amp; 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439234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8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40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31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944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68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54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25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903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lnSpc>
                <a:spcPct val="150000"/>
              </a:lnSpc>
              <a:spcAft>
                <a:spcPts val="0"/>
              </a:spcAft>
              <a:defRPr sz="1600"/>
            </a:lvl2pPr>
            <a:lvl3pPr>
              <a:defRPr sz="1400"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600"/>
              <a:t>Click to edit Master text styles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400"/>
              <a:t>Click to edit master text styles</a:t>
            </a:r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32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8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</a:defRPr>
            </a:lvl2pPr>
            <a:lvl3pPr>
              <a:defRPr sz="1400"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06745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8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23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2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70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24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7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171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886544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101216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274676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489348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201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821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06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110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56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22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92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90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339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177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4178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4850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9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273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417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51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9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7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807AB-5585-547D-9B64-41D1E5372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743" y="2174332"/>
            <a:ext cx="10509642" cy="1527429"/>
          </a:xfrm>
        </p:spPr>
        <p:txBody>
          <a:bodyPr>
            <a:noAutofit/>
          </a:bodyPr>
          <a:lstStyle/>
          <a:p>
            <a:r>
              <a:rPr lang="en-US" sz="2800" b="1"/>
              <a:t>10G Ethernet-to-LA1224 PCIe Datapath Driver Development</a:t>
            </a:r>
          </a:p>
          <a:p>
            <a:r>
              <a:rPr lang="en-US" sz="2800" b="1">
                <a:latin typeface="Aptos" panose="020B0004020202020204" pitchFamily="34" charset="0"/>
              </a:rPr>
              <a:t>KYOCERA</a:t>
            </a:r>
            <a:r>
              <a:rPr lang="en-US" sz="3200" b="1">
                <a:latin typeface="Aptos" panose="020B0004020202020204" pitchFamily="34" charset="0"/>
              </a:rPr>
              <a:t> </a:t>
            </a:r>
            <a:br>
              <a:rPr lang="en-US" sz="4000" b="1">
                <a:latin typeface="Aptos" panose="020B0004020202020204" pitchFamily="34" charset="0"/>
              </a:rPr>
            </a:br>
            <a:r>
              <a:rPr lang="en-GB" sz="2400" b="1">
                <a:solidFill>
                  <a:srgbClr val="00B050"/>
                </a:solidFill>
                <a:latin typeface="Aptos" panose="020B0004020202020204" pitchFamily="34" charset="0"/>
                <a:ea typeface="Roboto" panose="02000000000000000000" pitchFamily="2" charset="0"/>
                <a:cs typeface="Roboto" panose="02000000000000000000" pitchFamily="2" charset="0"/>
              </a:rPr>
              <a:t>Weekly Report April 15, 2026</a:t>
            </a:r>
          </a:p>
          <a:p>
            <a:endParaRPr lang="en-GB" sz="2400" b="1">
              <a:solidFill>
                <a:srgbClr val="00B050"/>
              </a:solidFill>
              <a:latin typeface="Aptos" panose="020B0004020202020204" pitchFamily="34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IN" sz="4000"/>
          </a:p>
        </p:txBody>
      </p:sp>
    </p:spTree>
    <p:extLst>
      <p:ext uri="{BB962C8B-B14F-4D97-AF65-F5344CB8AC3E}">
        <p14:creationId xmlns:p14="http://schemas.microsoft.com/office/powerpoint/2010/main" val="53803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4996-BF8F-92CE-1C7E-AE1A406F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C928A-BA31-F272-B56D-AFAC1A0781AF}"/>
              </a:ext>
            </a:extLst>
          </p:cNvPr>
          <p:cNvSpPr txBox="1"/>
          <p:nvPr/>
        </p:nvSpPr>
        <p:spPr>
          <a:xfrm>
            <a:off x="365760" y="39832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20578-B0A5-E2E8-3943-7F72719C220D}"/>
              </a:ext>
            </a:extLst>
          </p:cNvPr>
          <p:cNvSpPr txBox="1"/>
          <p:nvPr/>
        </p:nvSpPr>
        <p:spPr>
          <a:xfrm>
            <a:off x="365760" y="983426"/>
            <a:ext cx="2313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Apr  |  Project Week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F8C3F-9E7D-AC0B-5EA6-26F55ECFB63D}"/>
              </a:ext>
            </a:extLst>
          </p:cNvPr>
          <p:cNvSpPr txBox="1"/>
          <p:nvPr/>
        </p:nvSpPr>
        <p:spPr>
          <a:xfrm>
            <a:off x="365760" y="1691640"/>
            <a:ext cx="9144000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Calibri"/>
              </a:rPr>
              <a:t>Overall Summary</a:t>
            </a:r>
            <a:endParaRPr lang="en-US" sz="1400" b="1">
              <a:latin typeface="Calibri"/>
            </a:endParaRPr>
          </a:p>
          <a:p>
            <a:endParaRPr sz="1400">
              <a:latin typeface="Aptos" panose="020B0004020202020204" pitchFamily="34" charset="0"/>
            </a:endParaRP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400">
                <a:latin typeface="Calibri"/>
              </a:rPr>
              <a:t>Completed 10G Ethernet throughput validation: ~8.6 Gbps (single stream), ~8.7 Gbps (multi stream), zero packet loss.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400">
                <a:latin typeface="Calibri"/>
              </a:rPr>
              <a:t>Completed LDPC encode/decode validation over PCIe using </a:t>
            </a:r>
            <a:r>
              <a:rPr sz="1400" err="1">
                <a:latin typeface="Calibri"/>
              </a:rPr>
              <a:t>dpdk</a:t>
            </a:r>
            <a:r>
              <a:rPr sz="1400">
                <a:latin typeface="Calibri"/>
              </a:rPr>
              <a:t>-test-</a:t>
            </a:r>
            <a:r>
              <a:rPr sz="1400" err="1">
                <a:latin typeface="Calibri"/>
              </a:rPr>
              <a:t>bbdev</a:t>
            </a:r>
            <a:r>
              <a:rPr sz="1400">
                <a:latin typeface="Calibri"/>
              </a:rPr>
              <a:t>: DEC 17.88 Mbps, ENC 21.38 Mbps, latency 10-12 µs.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400">
                <a:latin typeface="Calibri"/>
              </a:rPr>
              <a:t>Completed PCIe raw IPC latency measurement: one-way 2.93 µs, round-trip 4.71 µs over 10,000 iterations.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400">
                <a:latin typeface="Calibri"/>
              </a:rPr>
              <a:t>All three hardware validation tests PASSED. Platform confirmed ready for DPDK driver development.</a:t>
            </a:r>
          </a:p>
          <a:p>
            <a:pPr marL="342900" indent="-342900">
              <a:spcBef>
                <a:spcPts val="200"/>
              </a:spcBef>
              <a:spcAft>
                <a:spcPts val="200"/>
              </a:spcAft>
              <a:buFont typeface="+mj-lt"/>
              <a:buAutoNum type="arabicPeriod"/>
            </a:pPr>
            <a:r>
              <a:rPr sz="1400">
                <a:latin typeface="Calibri"/>
              </a:rPr>
              <a:t>Next (WW04): SDK/DPDK familiarization, </a:t>
            </a:r>
            <a:r>
              <a:rPr sz="1400" err="1">
                <a:latin typeface="Calibri"/>
              </a:rPr>
              <a:t>hugepage</a:t>
            </a:r>
            <a:r>
              <a:rPr sz="1400">
                <a:latin typeface="Calibri"/>
              </a:rPr>
              <a:t> config, VFIO bind, </a:t>
            </a:r>
            <a:r>
              <a:rPr sz="1400" err="1">
                <a:latin typeface="Calibri"/>
              </a:rPr>
              <a:t>testpmd</a:t>
            </a:r>
            <a:r>
              <a:rPr sz="1400">
                <a:latin typeface="Calibri"/>
              </a:rPr>
              <a:t> verification, begin EAL </a:t>
            </a:r>
            <a:r>
              <a:rPr sz="1400" err="1">
                <a:latin typeface="Calibri"/>
              </a:rPr>
              <a:t>init</a:t>
            </a:r>
            <a:r>
              <a:rPr sz="1400">
                <a:latin typeface="Calibri"/>
              </a:rPr>
              <a:t> coding.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46E06-5FF6-F58D-85BA-E460053EF496}"/>
              </a:ext>
            </a:extLst>
          </p:cNvPr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427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2194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</a:rPr>
              <a:t>Apr  |  Project 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185634"/>
            <a:ext cx="7248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200" b="1">
                <a:solidFill>
                  <a:srgbClr val="C00000"/>
                </a:solidFill>
              </a:rPr>
              <a:t>WW 03</a:t>
            </a:r>
            <a:endParaRPr sz="1200" b="1">
              <a:solidFill>
                <a:srgbClr val="C00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562997"/>
              </p:ext>
            </p:extLst>
          </p:nvPr>
        </p:nvGraphicFramePr>
        <p:xfrm>
          <a:off x="381000" y="1660711"/>
          <a:ext cx="1141475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8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0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35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10G Ethernet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DPAA2 / WRIOP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iperf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13-Apr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~8.6 Gbps single, ~8.7 Gbps multi, zero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dpdk-test-bbdev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/ la12xx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LDPC enc/dec loopback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15-Apr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DEC 17.88 Mbps, ENC 21.38 Mbps, 10-12 µs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IPC Benchmark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PCIe throughput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15-Apr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One-way 2.93 µs, RT 4.71 µs, 10K iters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2806689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Calibri"/>
              </a:rPr>
              <a:t>WW 04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88973"/>
              </p:ext>
            </p:extLst>
          </p:nvPr>
        </p:nvGraphicFramePr>
        <p:xfrm>
          <a:off x="-99999999" y="5207154"/>
          <a:ext cx="1143000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lang="en-US" sz="850" b="0"/>
                        <a:t>-</a:t>
                      </a:r>
                      <a:endParaRPr sz="85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-</a:t>
                      </a:r>
                      <a:endParaRPr sz="85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-</a:t>
                      </a:r>
                      <a:endParaRPr sz="85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-</a:t>
                      </a:r>
                      <a:endParaRPr sz="85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-</a:t>
                      </a:r>
                      <a:endParaRPr sz="850" b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50" b="0"/>
                        <a:t>No blockers.</a:t>
                      </a:r>
                      <a:endParaRPr sz="85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124308"/>
              </p:ext>
            </p:extLst>
          </p:nvPr>
        </p:nvGraphicFramePr>
        <p:xfrm>
          <a:off x="396240" y="3156689"/>
          <a:ext cx="11430000" cy="13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SDK/DPDK Familiarization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DPDK 22.11 / 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SDK study, NIC binding, DPDK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21-Apr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 b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Build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Hugepage / VFIO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 err="1">
                          <a:latin typeface="Calibri"/>
                        </a:rPr>
                        <a:t>Hugepage</a:t>
                      </a:r>
                      <a:r>
                        <a:rPr sz="800" b="0">
                          <a:latin typeface="Calibri"/>
                        </a:rPr>
                        <a:t> 1 GB, VFIO bind, </a:t>
                      </a:r>
                      <a:r>
                        <a:rPr sz="800" b="0" err="1">
                          <a:latin typeface="Calibri"/>
                        </a:rPr>
                        <a:t>testpmd</a:t>
                      </a:r>
                      <a:r>
                        <a:rPr sz="800" b="0">
                          <a:latin typeface="Calibri"/>
                        </a:rPr>
                        <a:t> verify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22-Apr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 b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EAL + Port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DPAA2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EAL </a:t>
                      </a:r>
                      <a:r>
                        <a:rPr sz="800" b="0" err="1">
                          <a:latin typeface="Calibri"/>
                        </a:rPr>
                        <a:t>init</a:t>
                      </a:r>
                      <a:r>
                        <a:rPr sz="800" b="0">
                          <a:latin typeface="Calibri"/>
                        </a:rPr>
                        <a:t>, Ethernet port config, </a:t>
                      </a:r>
                      <a:r>
                        <a:rPr sz="800" b="0" err="1">
                          <a:latin typeface="Calibri"/>
                        </a:rPr>
                        <a:t>mempool</a:t>
                      </a:r>
                      <a:r>
                        <a:rPr sz="800" b="0">
                          <a:latin typeface="Calibri"/>
                        </a:rPr>
                        <a:t>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Calibri"/>
                        </a:rPr>
                        <a:t>2</a:t>
                      </a:r>
                      <a:r>
                        <a:rPr lang="en-US" sz="800" b="0">
                          <a:latin typeface="Calibri"/>
                        </a:rPr>
                        <a:t>2</a:t>
                      </a:r>
                      <a:r>
                        <a:rPr sz="800" b="0">
                          <a:latin typeface="Calibri"/>
                        </a:rPr>
                        <a:t>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800" b="0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50520" y="4845367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C00000"/>
                </a:solidFill>
                <a:latin typeface="Calibri"/>
              </a:rPr>
              <a:t>Backlog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938060"/>
              </p:ext>
            </p:extLst>
          </p:nvPr>
        </p:nvGraphicFramePr>
        <p:xfrm>
          <a:off x="365760" y="5145367"/>
          <a:ext cx="11430000" cy="61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 blockers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10G Ethernet Throughput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Objective: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Validate high-speed Ethernet datapath between Host (Mac Studio) and LX2160A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Setup: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Direct 10G connection (Mac Studio ↔ LX2160A)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Interface configured using DPAA2 (</a:t>
            </a:r>
            <a:r>
              <a:rPr sz="1100" err="1">
                <a:latin typeface="Calibri"/>
              </a:rPr>
              <a:t>dpmac</a:t>
            </a:r>
            <a:r>
              <a:rPr sz="1100">
                <a:latin typeface="Calibri"/>
              </a:rPr>
              <a:t> → </a:t>
            </a:r>
            <a:r>
              <a:rPr sz="1100" err="1">
                <a:latin typeface="Calibri"/>
              </a:rPr>
              <a:t>ethX</a:t>
            </a:r>
            <a:r>
              <a:rPr sz="1100">
                <a:latin typeface="Calibri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Link verified at 10 Gbps full duplex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Method: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Used iperf3 to generate TCP traffic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Tested both single-stream and multi-stream performance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45242" y="1783080"/>
          <a:ext cx="488220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Single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~8.6 Gbps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Multi 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~8.7 Gbps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Packet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Zero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Ethernet datapath is stable and capable of high-speed data transfer.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No packet loss or retransmissions observed.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689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87173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LDPC Processing Validation using LA1224 (</a:t>
            </a:r>
            <a:r>
              <a:rPr sz="2200" b="1" err="1">
                <a:solidFill>
                  <a:srgbClr val="C00000"/>
                </a:solidFill>
                <a:latin typeface="Calibri"/>
              </a:rPr>
              <a:t>bbdev</a:t>
            </a:r>
            <a:r>
              <a:rPr sz="2200" b="1">
                <a:solidFill>
                  <a:srgbClr val="C00000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Objective: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Validate LDPC hardware offload via PCIe using LA1224 FECA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Method: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LX2160A sends LDPC encode/decode jobs to LA1224 over PCIe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Communication handled via DPDK bbdev framework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LA1224 FECA engine processes data and returns results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197363"/>
              </p:ext>
            </p:extLst>
          </p:nvPr>
        </p:nvGraphicFramePr>
        <p:xfrm>
          <a:off x="6279481" y="1061978"/>
          <a:ext cx="5201319" cy="288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69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Decode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17.88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Encode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21.38 Mbps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Latency/Packet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~10–12 µs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Test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ALL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5603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Key Insight: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Functional validation completed successfully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Throughput can be improved with further optimization (burst size, queue depth)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PCIe communication and LDPC accelerator (FECA) are working correctly.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bbdev PMD → IPC → FECA pipeline confirmed end-to-end.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3894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PCIe Latency Measurement (Raw IPC)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Objective: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Measure raw PCIe communication latency between LX2160A and LA1224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Method: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Sent request-response messages without any processing overhead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Measured one-way and round-trip latency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Executed 10,000 iterations for stability validation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52160" y="1643605"/>
          <a:ext cx="5669280" cy="3078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7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One-Way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~2.93 µs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Round-Trip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~4.71 µs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10,000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Test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latin typeface="Calibri"/>
                        </a:rPr>
                        <a:t>ALL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560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Key Insight: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No processing involved — pure communication delay measured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All 10,000 test cases PASSED with stable, consistent performance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• Sub-5 µs round-trip confirms PCIe Gen3 x8 link is optimal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PCIe interface is low-latency, stable, and suitable for real-time workloads.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Calibri"/>
              </a:rPr>
              <a:t>Well within the &lt;200 µs p99 latency target for the datapath driver.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02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9838" y="626194"/>
            <a:ext cx="82296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Calibri"/>
              </a:rPr>
              <a:t>Results at a</a:t>
            </a:r>
            <a:r>
              <a:rPr lang="en-US" sz="2400" b="1">
                <a:solidFill>
                  <a:srgbClr val="C00000"/>
                </a:solidFill>
                <a:latin typeface="Calibri"/>
              </a:rPr>
              <a:t> </a:t>
            </a:r>
            <a:r>
              <a:rPr sz="2400" b="1">
                <a:solidFill>
                  <a:srgbClr val="C00000"/>
                </a:solidFill>
                <a:latin typeface="Calibri"/>
              </a:rPr>
              <a:t>Glance</a:t>
            </a:r>
            <a:r>
              <a:rPr lang="en-GB" sz="2400" b="1">
                <a:solidFill>
                  <a:srgbClr val="C00000"/>
                </a:solidFill>
                <a:latin typeface="Calibri"/>
              </a:rPr>
              <a:t> </a:t>
            </a:r>
            <a:endParaRPr lang="en-GB" sz="24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5499777"/>
              </p:ext>
            </p:extLst>
          </p:nvPr>
        </p:nvGraphicFramePr>
        <p:xfrm>
          <a:off x="439838" y="1320372"/>
          <a:ext cx="11218762" cy="2817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9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Validates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Numbers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10G Ethernet</a:t>
                      </a:r>
                    </a:p>
                    <a:p>
                      <a:r>
                        <a:rPr sz="1000">
                          <a:latin typeface="Calibri"/>
                        </a:rPr>
                        <a:t>(Mac Studio ↔ LX2160A)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~8.6 Gbps (single stream)</a:t>
                      </a:r>
                    </a:p>
                    <a:p>
                      <a:r>
                        <a:rPr sz="1000">
                          <a:latin typeface="Calibri"/>
                        </a:rPr>
                        <a:t>~8.7 Gbps (multi stream)</a:t>
                      </a:r>
                    </a:p>
                    <a:p>
                      <a:r>
                        <a:rPr sz="1000">
                          <a:latin typeface="Calibri"/>
                        </a:rPr>
                        <a:t>Zero packet loss / retransmissions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Test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LDPC encode/decode</a:t>
                      </a:r>
                    </a:p>
                    <a:p>
                      <a:r>
                        <a:rPr sz="1000">
                          <a:latin typeface="Calibri"/>
                        </a:rPr>
                        <a:t>over </a:t>
                      </a:r>
                      <a:r>
                        <a:rPr sz="1000" err="1">
                          <a:latin typeface="Calibri"/>
                        </a:rPr>
                        <a:t>bbdev</a:t>
                      </a:r>
                      <a:r>
                        <a:rPr sz="1000">
                          <a:latin typeface="Calibri"/>
                        </a:rPr>
                        <a:t> (PCIe)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DEC 17.88 Mbps, ENC 21.38 Mbps</a:t>
                      </a:r>
                    </a:p>
                    <a:p>
                      <a:r>
                        <a:rPr sz="1000">
                          <a:latin typeface="Calibri"/>
                        </a:rPr>
                        <a:t>Latency 10–12 µs/packet</a:t>
                      </a:r>
                    </a:p>
                    <a:p>
                      <a:r>
                        <a:rPr sz="1000">
                          <a:latin typeface="Calibri"/>
                        </a:rPr>
                        <a:t>All throughput &amp; latency tests 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Test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Raw PCIe DMA</a:t>
                      </a:r>
                    </a:p>
                    <a:p>
                      <a:r>
                        <a:rPr sz="1000">
                          <a:latin typeface="Calibri"/>
                        </a:rPr>
                        <a:t>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One-way avg 2.93 µs</a:t>
                      </a:r>
                    </a:p>
                    <a:p>
                      <a:r>
                        <a:rPr sz="1000">
                          <a:latin typeface="Calibri"/>
                        </a:rPr>
                        <a:t>Round-trip avg 4.71 µs</a:t>
                      </a:r>
                    </a:p>
                    <a:p>
                      <a:r>
                        <a:rPr sz="1000">
                          <a:latin typeface="Calibri"/>
                        </a:rPr>
                        <a:t>10,000 iterations — all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8000"/>
                          </a:solidFill>
                          <a:latin typeface="Calibri"/>
                        </a:rPr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79638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8F86B-B7FE-41F3-718D-7C5038A0B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23" y="646734"/>
            <a:ext cx="10204333" cy="57214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Action Items – Weekly Status</a:t>
            </a:r>
            <a:endParaRPr lang="en-IN" sz="2400" b="1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590D2-DCE4-5F97-184E-D31D9B93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072490"/>
              </p:ext>
            </p:extLst>
          </p:nvPr>
        </p:nvGraphicFramePr>
        <p:xfrm>
          <a:off x="329259" y="1552222"/>
          <a:ext cx="11531600" cy="2502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646">
                  <a:extLst>
                    <a:ext uri="{9D8B030D-6E8A-4147-A177-3AD203B41FA5}">
                      <a16:colId xmlns:a16="http://schemas.microsoft.com/office/drawing/2014/main" val="667878989"/>
                    </a:ext>
                  </a:extLst>
                </a:gridCol>
                <a:gridCol w="4464155">
                  <a:extLst>
                    <a:ext uri="{9D8B030D-6E8A-4147-A177-3AD203B41FA5}">
                      <a16:colId xmlns:a16="http://schemas.microsoft.com/office/drawing/2014/main" val="713185220"/>
                    </a:ext>
                  </a:extLst>
                </a:gridCol>
                <a:gridCol w="1921931">
                  <a:extLst>
                    <a:ext uri="{9D8B030D-6E8A-4147-A177-3AD203B41FA5}">
                      <a16:colId xmlns:a16="http://schemas.microsoft.com/office/drawing/2014/main" val="1795849864"/>
                    </a:ext>
                  </a:extLst>
                </a:gridCol>
                <a:gridCol w="3843868">
                  <a:extLst>
                    <a:ext uri="{9D8B030D-6E8A-4147-A177-3AD203B41FA5}">
                      <a16:colId xmlns:a16="http://schemas.microsoft.com/office/drawing/2014/main" val="2742432975"/>
                    </a:ext>
                  </a:extLst>
                </a:gridCol>
              </a:tblGrid>
              <a:tr h="413585">
                <a:tc>
                  <a:txBody>
                    <a:bodyPr/>
                    <a:lstStyle/>
                    <a:p>
                      <a:pPr algn="ctr"/>
                      <a:r>
                        <a:rPr lang="en-US" sz="1200" err="1"/>
                        <a:t>S.No</a:t>
                      </a:r>
                      <a:endParaRPr lang="en-IN" sz="120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Action Item</a:t>
                      </a:r>
                      <a:endParaRPr lang="en-IN" sz="120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Status</a:t>
                      </a:r>
                      <a:endParaRPr lang="en-IN" sz="120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Remarks</a:t>
                      </a:r>
                      <a:endParaRPr lang="en-IN" sz="1200"/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26745"/>
                  </a:ext>
                </a:extLst>
              </a:tr>
              <a:tr h="69638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1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Create folder in shared Box and update weekly status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Completed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Folder created and status updated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20806"/>
                  </a:ext>
                </a:extLst>
              </a:tr>
              <a:tr h="69638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2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Add buffer overflow handling technique in architecture doc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Completed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Backpressure-based flow control documented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2435487"/>
                  </a:ext>
                </a:extLst>
              </a:tr>
              <a:tr h="696384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3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Add detailed technical points in PPT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Completed</a:t>
                      </a:r>
                      <a:endParaRPr lang="en-IN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Slides updated with detailed explanations.</a:t>
                      </a:r>
                      <a:endParaRPr lang="en-IN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73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8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AF46-D484-E547-235A-97F34E4F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1BFBBF-3208-5D48-A140-086A8C6D947E}"/>
              </a:ext>
            </a:extLst>
          </p:cNvPr>
          <p:cNvGrpSpPr/>
          <p:nvPr/>
        </p:nvGrpSpPr>
        <p:grpSpPr>
          <a:xfrm>
            <a:off x="440371" y="4654875"/>
            <a:ext cx="1630133" cy="1476110"/>
            <a:chOff x="165025" y="4899984"/>
            <a:chExt cx="1630133" cy="1476110"/>
          </a:xfrm>
        </p:grpSpPr>
        <p:sp>
          <p:nvSpPr>
            <p:cNvPr id="7" name="Shape 32">
              <a:extLst>
                <a:ext uri="{FF2B5EF4-FFF2-40B4-BE49-F238E27FC236}">
                  <a16:creationId xmlns:a16="http://schemas.microsoft.com/office/drawing/2014/main" id="{543C2C48-786B-2962-E1E7-DF0B17703557}"/>
                </a:ext>
              </a:extLst>
            </p:cNvPr>
            <p:cNvSpPr/>
            <p:nvPr/>
          </p:nvSpPr>
          <p:spPr>
            <a:xfrm rot="10800000" flipV="1">
              <a:off x="282881" y="4899984"/>
              <a:ext cx="1280834" cy="1254450"/>
            </a:xfrm>
            <a:prstGeom prst="rect">
              <a:avLst/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33">
              <a:extLst>
                <a:ext uri="{FF2B5EF4-FFF2-40B4-BE49-F238E27FC236}">
                  <a16:creationId xmlns:a16="http://schemas.microsoft.com/office/drawing/2014/main" id="{D6CE8EF5-7FB4-99AD-9284-068F5F0E0D1D}"/>
                </a:ext>
              </a:extLst>
            </p:cNvPr>
            <p:cNvSpPr/>
            <p:nvPr/>
          </p:nvSpPr>
          <p:spPr>
            <a:xfrm rot="10800000" flipV="1">
              <a:off x="165025" y="4899984"/>
              <a:ext cx="1630133" cy="2409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Performance Targets</a:t>
              </a:r>
              <a:endParaRPr lang="en-US" sz="1000"/>
            </a:p>
          </p:txBody>
        </p:sp>
        <p:sp>
          <p:nvSpPr>
            <p:cNvPr id="9" name="Text 34">
              <a:extLst>
                <a:ext uri="{FF2B5EF4-FFF2-40B4-BE49-F238E27FC236}">
                  <a16:creationId xmlns:a16="http://schemas.microsoft.com/office/drawing/2014/main" id="{CD0EB16A-BB5E-7D34-077D-F96D14C06EB8}"/>
                </a:ext>
              </a:extLst>
            </p:cNvPr>
            <p:cNvSpPr/>
            <p:nvPr/>
          </p:nvSpPr>
          <p:spPr>
            <a:xfrm rot="10800000" flipV="1">
              <a:off x="195488" y="5140914"/>
              <a:ext cx="1415658" cy="12351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≥ 8 Gbps throughput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200 μs p99 latency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0.001% loss
</a:t>
              </a:r>
              <a:endParaRPr lang="en-US" sz="900"/>
            </a:p>
            <a:p>
              <a:r>
                <a:rPr lang="en-US" sz="900"/>
                <a:t>• Variable bandwidth (100-720 MHz)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6E8997-9F04-B4E0-992D-9D35FBAF08A7}"/>
              </a:ext>
            </a:extLst>
          </p:cNvPr>
          <p:cNvGrpSpPr/>
          <p:nvPr/>
        </p:nvGrpSpPr>
        <p:grpSpPr>
          <a:xfrm>
            <a:off x="2070504" y="1027380"/>
            <a:ext cx="9213582" cy="5013048"/>
            <a:chOff x="777240" y="957345"/>
            <a:chExt cx="7680960" cy="41587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22C06-98BB-674A-8000-38E3CF7EA7B4}"/>
                </a:ext>
              </a:extLst>
            </p:cNvPr>
            <p:cNvGrpSpPr/>
            <p:nvPr/>
          </p:nvGrpSpPr>
          <p:grpSpPr>
            <a:xfrm>
              <a:off x="2834639" y="957345"/>
              <a:ext cx="3291840" cy="594360"/>
              <a:chOff x="182880" y="874885"/>
              <a:chExt cx="3291840" cy="594360"/>
            </a:xfrm>
          </p:grpSpPr>
          <p:sp>
            <p:nvSpPr>
              <p:cNvPr id="45" name="Shape 1">
                <a:extLst>
                  <a:ext uri="{FF2B5EF4-FFF2-40B4-BE49-F238E27FC236}">
                    <a16:creationId xmlns:a16="http://schemas.microsoft.com/office/drawing/2014/main" id="{7E28E2C2-3BB0-E501-E933-275E9FFD6E61}"/>
                  </a:ext>
                </a:extLst>
              </p:cNvPr>
              <p:cNvSpPr/>
              <p:nvPr/>
            </p:nvSpPr>
            <p:spPr>
              <a:xfrm>
                <a:off x="182880" y="874885"/>
                <a:ext cx="3291840" cy="594360"/>
              </a:xfrm>
              <a:prstGeom prst="rect">
                <a:avLst/>
              </a:prstGeom>
              <a:solidFill>
                <a:srgbClr val="F77F0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42D49547-3F6F-AED0-50AA-7D75B24DD891}"/>
                  </a:ext>
                </a:extLst>
              </p:cNvPr>
              <p:cNvSpPr/>
              <p:nvPr/>
            </p:nvSpPr>
            <p:spPr>
              <a:xfrm>
                <a:off x="182880" y="975143"/>
                <a:ext cx="32918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>
                    <a:solidFill>
                      <a:srgbClr val="FFFFFF"/>
                    </a:solidFill>
                  </a:rPr>
                  <a:t>10G Ethernet Network</a:t>
                </a:r>
                <a:endParaRPr lang="en-US" sz="1500"/>
              </a:p>
              <a:p>
                <a:pPr marL="0" indent="0" algn="ctr">
                  <a:buNone/>
                </a:pPr>
                <a:r>
                  <a:rPr lang="en-US" sz="1000">
                    <a:solidFill>
                      <a:srgbClr val="FFFFFF"/>
                    </a:solidFill>
                  </a:rPr>
                  <a:t>Upstream/Downstream Traffic</a:t>
                </a:r>
                <a:endParaRPr lang="en-US" sz="1500"/>
              </a:p>
            </p:txBody>
          </p:sp>
        </p:grp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1B665E8A-C0C6-4284-029C-A013FB9E9F39}"/>
                </a:ext>
              </a:extLst>
            </p:cNvPr>
            <p:cNvSpPr/>
            <p:nvPr/>
          </p:nvSpPr>
          <p:spPr>
            <a:xfrm>
              <a:off x="4983480" y="1709928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F77F00"/>
                  </a:solidFill>
                </a:rPr>
                <a:t>RX</a:t>
              </a:r>
              <a:endParaRPr lang="en-US" sz="90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157E834-63DF-FE04-533F-A097C5561A2F}"/>
                </a:ext>
              </a:extLst>
            </p:cNvPr>
            <p:cNvSpPr/>
            <p:nvPr/>
          </p:nvSpPr>
          <p:spPr>
            <a:xfrm>
              <a:off x="3977640" y="1709928"/>
              <a:ext cx="3657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0077B6"/>
                  </a:solidFill>
                </a:rPr>
                <a:t>TX</a:t>
              </a:r>
              <a:endParaRPr lang="en-US" sz="90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F8F2C25-8105-8763-CD47-3E1E7BF5EA5C}"/>
                </a:ext>
              </a:extLst>
            </p:cNvPr>
            <p:cNvSpPr/>
            <p:nvPr/>
          </p:nvSpPr>
          <p:spPr>
            <a:xfrm>
              <a:off x="777240" y="1990453"/>
              <a:ext cx="7680960" cy="141732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21252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B9BADDB3-9A1B-95F8-44FC-4757C1519CE0}"/>
                </a:ext>
              </a:extLst>
            </p:cNvPr>
            <p:cNvSpPr/>
            <p:nvPr/>
          </p:nvSpPr>
          <p:spPr>
            <a:xfrm>
              <a:off x="914400" y="2084832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212529"/>
                  </a:solidFill>
                </a:rPr>
                <a:t>LX2160A Host (Linux + DPDK Datapath)</a:t>
              </a:r>
              <a:endParaRPr lang="en-US" sz="130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A91E365C-4AB4-EA3F-B0C5-A2B124DEB78E}"/>
                </a:ext>
              </a:extLst>
            </p:cNvPr>
            <p:cNvSpPr/>
            <p:nvPr/>
          </p:nvSpPr>
          <p:spPr>
            <a:xfrm>
              <a:off x="914400" y="2423160"/>
              <a:ext cx="182880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A8E699F0-E9A2-25F6-5BE6-4D105F977B71}"/>
                </a:ext>
              </a:extLst>
            </p:cNvPr>
            <p:cNvSpPr/>
            <p:nvPr/>
          </p:nvSpPr>
          <p:spPr>
            <a:xfrm>
              <a:off x="914400" y="253288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WRIOP/DPAA2</a:t>
              </a:r>
              <a:endParaRPr lang="en-US" sz="110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A3FB1D45-8723-4F3A-77B8-82FC711F7E04}"/>
                </a:ext>
              </a:extLst>
            </p:cNvPr>
            <p:cNvSpPr/>
            <p:nvPr/>
          </p:nvSpPr>
          <p:spPr>
            <a:xfrm>
              <a:off x="2926080" y="2423160"/>
              <a:ext cx="128016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25DE330E-3BAA-E3E3-EBF0-264102856EC0}"/>
                </a:ext>
              </a:extLst>
            </p:cNvPr>
            <p:cNvSpPr/>
            <p:nvPr/>
          </p:nvSpPr>
          <p:spPr>
            <a:xfrm>
              <a:off x="2926080" y="2532888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QBMAN</a:t>
              </a:r>
              <a:endParaRPr lang="en-US" sz="110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AAC88884-BAA9-C18E-595C-03C9A3E8400D}"/>
                </a:ext>
              </a:extLst>
            </p:cNvPr>
            <p:cNvSpPr/>
            <p:nvPr/>
          </p:nvSpPr>
          <p:spPr>
            <a:xfrm>
              <a:off x="4389120" y="2423160"/>
              <a:ext cx="155448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29D90AD-A413-8C04-B125-4B9E36044760}"/>
                </a:ext>
              </a:extLst>
            </p:cNvPr>
            <p:cNvSpPr/>
            <p:nvPr/>
          </p:nvSpPr>
          <p:spPr>
            <a:xfrm>
              <a:off x="4389120" y="2532888"/>
              <a:ext cx="15544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DDR/Mempools</a:t>
              </a:r>
              <a:endParaRPr lang="en-US" sz="1100"/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DF05F42E-FC0F-D5AF-EF09-1A56E5754F69}"/>
                </a:ext>
              </a:extLst>
            </p:cNvPr>
            <p:cNvSpPr/>
            <p:nvPr/>
          </p:nvSpPr>
          <p:spPr>
            <a:xfrm>
              <a:off x="6126480" y="2423160"/>
              <a:ext cx="210312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76BA84A3-D4E0-FC83-E735-7F5D7A4A90F8}"/>
                </a:ext>
              </a:extLst>
            </p:cNvPr>
            <p:cNvSpPr/>
            <p:nvPr/>
          </p:nvSpPr>
          <p:spPr>
            <a:xfrm>
              <a:off x="6126480" y="2532888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CPU Cores</a:t>
              </a:r>
              <a:endParaRPr lang="en-US" sz="1100"/>
            </a:p>
          </p:txBody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6D70CF17-DF63-77ED-4267-47C4BE5AB51E}"/>
                </a:ext>
              </a:extLst>
            </p:cNvPr>
            <p:cNvSpPr/>
            <p:nvPr/>
          </p:nvSpPr>
          <p:spPr>
            <a:xfrm>
              <a:off x="902970" y="2934733"/>
              <a:ext cx="7315200" cy="365760"/>
            </a:xfrm>
            <a:prstGeom prst="rect">
              <a:avLst/>
            </a:prstGeom>
            <a:solidFill>
              <a:srgbClr val="F8F9FA"/>
            </a:solidFill>
            <a:ln w="19050">
              <a:solidFill>
                <a:srgbClr val="F77F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72E1CFE-0F94-DE2C-33A7-6B4CA4A70F2A}"/>
                </a:ext>
              </a:extLst>
            </p:cNvPr>
            <p:cNvSpPr/>
            <p:nvPr/>
          </p:nvSpPr>
          <p:spPr>
            <a:xfrm>
              <a:off x="1097280" y="2999232"/>
              <a:ext cx="6949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bbdev: LDPC Enc/Dec • BG1/BG2 • z_c • Code Rate • RV • CRC • Bandwidth: 100-720 MHz</a:t>
              </a:r>
              <a:endParaRPr lang="en-US" sz="100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18DF61F-F6C4-53BA-56F0-4B92C37FD8D6}"/>
                </a:ext>
              </a:extLst>
            </p:cNvPr>
            <p:cNvSpPr/>
            <p:nvPr/>
          </p:nvSpPr>
          <p:spPr>
            <a:xfrm>
              <a:off x="4983480" y="3447288"/>
              <a:ext cx="8229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ops+DMA</a:t>
              </a:r>
              <a:endParaRPr lang="en-US" sz="80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7DF6DD65-79C7-6F8B-74E9-79C141A68841}"/>
                </a:ext>
              </a:extLst>
            </p:cNvPr>
            <p:cNvSpPr/>
            <p:nvPr/>
          </p:nvSpPr>
          <p:spPr>
            <a:xfrm>
              <a:off x="3611880" y="3447288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writeback</a:t>
              </a:r>
              <a:endParaRPr lang="en-US" sz="800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CC4F31A-36A7-5869-AF5B-923967247AB0}"/>
                </a:ext>
              </a:extLst>
            </p:cNvPr>
            <p:cNvSpPr/>
            <p:nvPr/>
          </p:nvSpPr>
          <p:spPr>
            <a:xfrm>
              <a:off x="3119035" y="3666990"/>
              <a:ext cx="2926080" cy="50292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18C38673-AC9C-5FB6-6E6D-DA909F4FE8E8}"/>
                </a:ext>
              </a:extLst>
            </p:cNvPr>
            <p:cNvSpPr/>
            <p:nvPr/>
          </p:nvSpPr>
          <p:spPr>
            <a:xfrm>
              <a:off x="3108960" y="374904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</a:rPr>
                <a:t>PCIe Gen3 x8</a:t>
              </a:r>
              <a:endParaRPr lang="en-US" sz="1300"/>
            </a:p>
            <a:p>
              <a:pPr marL="0" indent="0" algn="ctr">
                <a:buNone/>
              </a:pPr>
              <a:r>
                <a:rPr lang="en-US" sz="900">
                  <a:solidFill>
                    <a:srgbClr val="FFFFFF"/>
                  </a:solidFill>
                </a:rPr>
                <a:t>~8 GB/s bandwidth</a:t>
              </a:r>
              <a:endParaRPr lang="en-US" sz="1300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91C2D747-282B-23BF-0961-66A505A55114}"/>
                </a:ext>
              </a:extLst>
            </p:cNvPr>
            <p:cNvSpPr/>
            <p:nvPr/>
          </p:nvSpPr>
          <p:spPr>
            <a:xfrm>
              <a:off x="4983480" y="4206240"/>
              <a:ext cx="10972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encode/decode</a:t>
              </a:r>
              <a:endParaRPr lang="en-US" sz="80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8C1D4B03-5258-80B2-50ED-01A17461154F}"/>
                </a:ext>
              </a:extLst>
            </p:cNvPr>
            <p:cNvSpPr/>
            <p:nvPr/>
          </p:nvSpPr>
          <p:spPr>
            <a:xfrm>
              <a:off x="3703320" y="4226241"/>
              <a:ext cx="640080" cy="986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results</a:t>
              </a:r>
              <a:endParaRPr lang="en-US" sz="800"/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19B13C71-FF26-4066-EEC3-C5065133287F}"/>
                </a:ext>
              </a:extLst>
            </p:cNvPr>
            <p:cNvSpPr/>
            <p:nvPr/>
          </p:nvSpPr>
          <p:spPr>
            <a:xfrm>
              <a:off x="1737360" y="4430268"/>
              <a:ext cx="5486400" cy="685800"/>
            </a:xfrm>
            <a:prstGeom prst="rect">
              <a:avLst/>
            </a:prstGeom>
            <a:solidFill>
              <a:srgbClr val="4950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8D05636C-6DFA-D3C6-A011-F14642E89018}"/>
                </a:ext>
              </a:extLst>
            </p:cNvPr>
            <p:cNvSpPr/>
            <p:nvPr/>
          </p:nvSpPr>
          <p:spPr>
            <a:xfrm>
              <a:off x="2011680" y="4526280"/>
              <a:ext cx="51206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LA1224 LDPC Accelerator (FECA)</a:t>
              </a:r>
              <a:endParaRPr lang="en-US" sz="140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ECEBCC5F-F5BE-0219-8133-109BF0DF0151}"/>
                </a:ext>
              </a:extLst>
            </p:cNvPr>
            <p:cNvSpPr/>
            <p:nvPr/>
          </p:nvSpPr>
          <p:spPr>
            <a:xfrm>
              <a:off x="2011680" y="4773168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F8F9FA"/>
                  </a:solidFill>
                </a:rPr>
                <a:t>Multi-queue encode/decode • CRC check • Variable bandwidth (100-720 MHz)</a:t>
              </a:r>
              <a:endParaRPr lang="en-US" sz="90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BBC7D5-8713-5496-C733-248B84FE8D96}"/>
                </a:ext>
              </a:extLst>
            </p:cNvPr>
            <p:cNvGrpSpPr/>
            <p:nvPr/>
          </p:nvGrpSpPr>
          <p:grpSpPr>
            <a:xfrm>
              <a:off x="4470761" y="4165092"/>
              <a:ext cx="431078" cy="247378"/>
              <a:chOff x="4470761" y="4165092"/>
              <a:chExt cx="431078" cy="247378"/>
            </a:xfrm>
          </p:grpSpPr>
          <p:sp>
            <p:nvSpPr>
              <p:cNvPr id="43" name="Shape 27">
                <a:extLst>
                  <a:ext uri="{FF2B5EF4-FFF2-40B4-BE49-F238E27FC236}">
                    <a16:creationId xmlns:a16="http://schemas.microsoft.com/office/drawing/2014/main" id="{FDAF775B-97A0-3A05-B1F2-EC81CFE9D418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19">
                <a:extLst>
                  <a:ext uri="{FF2B5EF4-FFF2-40B4-BE49-F238E27FC236}">
                    <a16:creationId xmlns:a16="http://schemas.microsoft.com/office/drawing/2014/main" id="{B5001C3F-C5D1-EAB5-702D-A4B4D8887211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551A8B-4923-52D2-0668-AED57D0B72F6}"/>
                </a:ext>
              </a:extLst>
            </p:cNvPr>
            <p:cNvGrpSpPr/>
            <p:nvPr/>
          </p:nvGrpSpPr>
          <p:grpSpPr>
            <a:xfrm>
              <a:off x="4470761" y="3425570"/>
              <a:ext cx="431078" cy="225823"/>
              <a:chOff x="4470761" y="4165092"/>
              <a:chExt cx="431078" cy="247378"/>
            </a:xfrm>
          </p:grpSpPr>
          <p:sp>
            <p:nvSpPr>
              <p:cNvPr id="41" name="Shape 27">
                <a:extLst>
                  <a:ext uri="{FF2B5EF4-FFF2-40B4-BE49-F238E27FC236}">
                    <a16:creationId xmlns:a16="http://schemas.microsoft.com/office/drawing/2014/main" id="{49C68F00-686D-786F-2C1A-A6EAD6CB1FF9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Shape 19">
                <a:extLst>
                  <a:ext uri="{FF2B5EF4-FFF2-40B4-BE49-F238E27FC236}">
                    <a16:creationId xmlns:a16="http://schemas.microsoft.com/office/drawing/2014/main" id="{48A96018-C4D2-5758-E2A7-7ECDEFE371EA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A676A49-7CC3-1263-A261-7D15859EECC3}"/>
                </a:ext>
              </a:extLst>
            </p:cNvPr>
            <p:cNvGrpSpPr/>
            <p:nvPr/>
          </p:nvGrpSpPr>
          <p:grpSpPr>
            <a:xfrm>
              <a:off x="4465862" y="1651543"/>
              <a:ext cx="431078" cy="247378"/>
              <a:chOff x="4470761" y="4165092"/>
              <a:chExt cx="431078" cy="247378"/>
            </a:xfrm>
          </p:grpSpPr>
          <p:sp>
            <p:nvSpPr>
              <p:cNvPr id="39" name="Shape 27">
                <a:extLst>
                  <a:ext uri="{FF2B5EF4-FFF2-40B4-BE49-F238E27FC236}">
                    <a16:creationId xmlns:a16="http://schemas.microsoft.com/office/drawing/2014/main" id="{DBCE6112-7E0D-3A83-5DB2-625B3965B94E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Shape 19">
                <a:extLst>
                  <a:ext uri="{FF2B5EF4-FFF2-40B4-BE49-F238E27FC236}">
                    <a16:creationId xmlns:a16="http://schemas.microsoft.com/office/drawing/2014/main" id="{62224012-07B2-9FAB-FC3F-F573271DF2BE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Text 0">
            <a:extLst>
              <a:ext uri="{FF2B5EF4-FFF2-40B4-BE49-F238E27FC236}">
                <a16:creationId xmlns:a16="http://schemas.microsoft.com/office/drawing/2014/main" id="{70209F71-9C31-952D-A13D-5524A40C8658}"/>
              </a:ext>
            </a:extLst>
          </p:cNvPr>
          <p:cNvSpPr/>
          <p:nvPr/>
        </p:nvSpPr>
        <p:spPr>
          <a:xfrm>
            <a:off x="502309" y="4037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60296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6117A-00C2-834C-6887-138A415C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sz="1200">
              <a:solidFill>
                <a:schemeClr val="accent6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2A1A-A9D7-87A4-8888-5569A79F3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A3318-8FA4-C12C-4770-0B1EF2993C02}"/>
              </a:ext>
            </a:extLst>
          </p:cNvPr>
          <p:cNvSpPr txBox="1"/>
          <p:nvPr/>
        </p:nvSpPr>
        <p:spPr>
          <a:xfrm>
            <a:off x="899449" y="4132912"/>
            <a:ext cx="2964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 Balan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parthiban.pavadaibalan@tessolve.com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3463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22475-24F8-96CF-DB0D-F00622344BA3}"/>
              </a:ext>
            </a:extLst>
          </p:cNvPr>
          <p:cNvSpPr txBox="1"/>
          <p:nvPr/>
        </p:nvSpPr>
        <p:spPr>
          <a:xfrm>
            <a:off x="899449" y="4791957"/>
            <a:ext cx="2834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+91 88847 34443</a:t>
            </a:r>
          </a:p>
        </p:txBody>
      </p:sp>
    </p:spTree>
    <p:extLst>
      <p:ext uri="{BB962C8B-B14F-4D97-AF65-F5344CB8AC3E}">
        <p14:creationId xmlns:p14="http://schemas.microsoft.com/office/powerpoint/2010/main" val="298554535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1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2_Custom Design</vt:lpstr>
      <vt:lpstr>1_Custom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Parthiban Pavadai Balan</dc:creator>
  <cp:revision>1</cp:revision>
  <dcterms:created xsi:type="dcterms:W3CDTF">2025-01-16T08:46:12Z</dcterms:created>
  <dcterms:modified xsi:type="dcterms:W3CDTF">2026-04-15T19:09:28Z</dcterms:modified>
</cp:coreProperties>
</file>